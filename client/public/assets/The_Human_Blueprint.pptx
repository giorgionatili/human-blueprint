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31"/>
    <p:restoredTop sz="94610"/>
  </p:normalViewPr>
  <p:slideViewPr>
    <p:cSldViewPr snapToGrid="0" snapToObjects="1">
      <p:cViewPr varScale="1">
        <p:scale>
          <a:sx n="229" d="100"/>
          <a:sy n="229" d="100"/>
        </p:scale>
        <p:origin x="552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7687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3.png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4800" b="1" kern="0" spc="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HUMAN</a:t>
            </a:r>
            <a:endParaRPr lang="en-US" sz="48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4800" b="1" kern="0" spc="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Reclaiming Digital Dignity in the Age of Agentic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Giorgio Natili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869680" y="457200"/>
            <a:ext cx="36576" cy="411480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73152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37160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if the narrative that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'AI will replace us' is not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 wrong — but dangerously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incomplete?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73152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piece: The Human Blueprint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/  40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PROVOCATIVE QUESTIONS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100584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54864" cy="100584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188720"/>
            <a:ext cx="6583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 death of certain tasks is actually the rebirth of the human spirit?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7680960" cy="100584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54864" cy="100584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242316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423160"/>
            <a:ext cx="6583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 most valuable skill in the age of AI is the one thing AI can never have: human intuition?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7680960" cy="100584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54864" cy="10058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05840" y="365760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57600"/>
            <a:ext cx="6583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we are building apprentices, not replacements?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/  40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AGENTIC AI?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systems that don't just suggest — they act.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103120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systems that operate toward goals without continuous human intervention, making decisions, using tools, and adapting to achieve outcomes.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3108960"/>
            <a:ext cx="3657600" cy="164592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184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32461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 Agent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38404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AI with a defined goal, memory, tools, and planning loop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3108960"/>
            <a:ext cx="3657600" cy="164592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29184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32461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029200" y="38404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 teams of specialized agents collaborating toward complex outcomes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/  40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AGENTIC LOOP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920240" cy="256032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920240" cy="54864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PERCEIVE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3464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context from environment and tools</a:t>
            </a:r>
            <a:endParaRPr lang="en-US" sz="11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2468880"/>
            <a:ext cx="274320" cy="2743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606040" y="1463040"/>
            <a:ext cx="1920240" cy="256032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606040" y="1463040"/>
            <a:ext cx="1920240" cy="5486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78892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2788920" y="23774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2788920" y="283464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Analyze, plan, and decide next action</a:t>
            </a:r>
            <a:endParaRPr lang="en-US" sz="11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2468880"/>
            <a:ext cx="274320" cy="27432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4754880" y="1463040"/>
            <a:ext cx="1920240" cy="256032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754880" y="146304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93776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200" dirty="0"/>
          </a:p>
        </p:txBody>
      </p:sp>
      <p:sp>
        <p:nvSpPr>
          <p:cNvPr id="19" name="Text 15"/>
          <p:cNvSpPr/>
          <p:nvPr/>
        </p:nvSpPr>
        <p:spPr>
          <a:xfrm>
            <a:off x="4937760" y="23774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4937760" y="283464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using tools, APIs, and interfaces</a:t>
            </a:r>
            <a:endParaRPr lang="en-US" sz="11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468880"/>
            <a:ext cx="274320" cy="27432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903720" y="1463040"/>
            <a:ext cx="1920240" cy="256032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6903720" y="146304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708660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200" dirty="0"/>
          </a:p>
        </p:txBody>
      </p:sp>
      <p:sp>
        <p:nvSpPr>
          <p:cNvPr id="25" name="Text 20"/>
          <p:cNvSpPr/>
          <p:nvPr/>
        </p:nvSpPr>
        <p:spPr>
          <a:xfrm>
            <a:off x="7086600" y="23774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7086600" y="283464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results and update approach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731520" y="42976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pivot: from tools that advise to tools that act on your behalf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/  40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HISTORICAL CONTEXT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182880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3317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 of Tools — From Hand to Agent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/  40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EVOLUTION OF TOOLS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97280" y="2788920"/>
            <a:ext cx="6949440" cy="27432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37160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1031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463040" y="2697480"/>
            <a:ext cx="182880" cy="182880"/>
          </a:xfrm>
          <a:prstGeom prst="ellipse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31520" y="29718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Craft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" y="329184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skill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tool itself</a:t>
            </a:r>
            <a:endParaRPr lang="en-US" sz="10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137160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788920" y="21031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HAMMER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520440" y="2697480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2788920" y="29718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2788920" y="329184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amplification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force</a:t>
            </a:r>
            <a:endParaRPr lang="en-US" sz="10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137160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46320" y="21031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ALGORITHM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5577840" y="2697480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4846320" y="29718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4846320" y="329184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processing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</a:t>
            </a:r>
            <a:endParaRPr lang="en-US" sz="10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137160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03720" y="21031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7635240" y="2697480"/>
            <a:ext cx="182880" cy="182880"/>
          </a:xfrm>
          <a:prstGeom prst="ellipse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903720" y="29718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6903720" y="329184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action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behalf</a:t>
            </a:r>
            <a:endParaRPr lang="en-US" sz="10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02336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005840" y="3977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in history has been accused of destroying humanity. Every tool has also extended it.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/  40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FOUR WAVES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7680960" cy="77724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54864" cy="7772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62763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Craft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60320" y="1371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&amp; Skill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64592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through repetition, artisanship as identity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194560"/>
            <a:ext cx="7680960" cy="77724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1520" y="2194560"/>
            <a:ext cx="54864" cy="7772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2286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254203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60320" y="2286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Hammer &amp; Machine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256032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Standardization, efficiency, mass production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108960"/>
            <a:ext cx="7680960" cy="77724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31520" y="3108960"/>
            <a:ext cx="54864" cy="77724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345643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560320" y="3200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&amp; Code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60320" y="347472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processing, automation of routine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7680960" cy="77724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31520" y="4023360"/>
            <a:ext cx="54864" cy="77724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05840" y="4114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05840" y="437083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560320" y="4114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&amp; Autonomy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560320" y="438912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acts, decides, and collaborates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/  40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5720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RECURRING FEAR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3886200" y="1737360"/>
            <a:ext cx="137160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3200400" y="20116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62%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1828800" y="283464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workers fear AI will significantly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their jobs within 5 years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97280" y="374904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fear of tools is as old as tools themselves.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whether AI changes work — it's whether we design it to serve us.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/  40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INTUITION GAP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18288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3317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scales logic. Humans scale meaning.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/  40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188720"/>
            <a:ext cx="7772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if the real threat isn't</a:t>
            </a:r>
            <a:endParaRPr lang="en-US" sz="3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that AI takes your job —</a:t>
            </a:r>
            <a:endParaRPr lang="en-US" sz="3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but that it takes your</a:t>
            </a:r>
            <a:endParaRPr lang="en-US" sz="3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 for working?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731520" y="3749040"/>
            <a:ext cx="18288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31520" y="3931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Intuition Gap: the space between processing data (AI) and navigating ambiguity (humans)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/  40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 DIGNITY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/ˈdɪdʒɪtl ˈdɪɡnɪti/ — noun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14300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preservation of human agency, autonomy, purpose, and self-worth in systems designed with artificial intelligence.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7680960" cy="18288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993392"/>
            <a:ext cx="54864" cy="36576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9202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938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0" y="193852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to make meaningful choices that AI cannot override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587752"/>
            <a:ext cx="54864" cy="36576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25146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25328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53288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over personal data and how it is used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182112"/>
            <a:ext cx="54864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31089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54480" y="31272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74720" y="312724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and accurate portrayal in AI-generated outputs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776472"/>
            <a:ext cx="54864" cy="3657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05840" y="37033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3721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474720" y="372160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 to AI benefits regardless of background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4370832"/>
            <a:ext cx="54864" cy="36576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05840" y="42976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54480" y="4315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Accountability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474720" y="431596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to understand and challenge AI decisions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/  40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 vs. REALITY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657600" cy="32004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3657600" cy="54864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280" y="16459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2194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FEAR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97280" y="2651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"AI is coming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 my job"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097280" y="36576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AI as a competitor creates fear, paralysis, and resistance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54880" y="1371600"/>
            <a:ext cx="3657600" cy="32004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1371600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64592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20640" y="2194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REALITY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120640" y="2651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"AI scales logic.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Humans scale meaning."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5120640" y="36576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AI as a collaborator creates growth, adaptation, and purpose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/  40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ICEBERG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see is only the surface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0" y="365760"/>
            <a:ext cx="3657600" cy="82296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21208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0m — SURFACE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12080" y="685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AI Tools &amp; Outputs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18288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5087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WATERLINE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71600" y="1920240"/>
            <a:ext cx="6858000" cy="68580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371600" y="1920240"/>
            <a:ext cx="54864" cy="68580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645920" y="1965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2240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Twilight Zone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20116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 Dignity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371600" y="2743200"/>
            <a:ext cx="6858000" cy="68580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371600" y="2743200"/>
            <a:ext cx="54864" cy="68580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645920" y="27889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-1000m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45920" y="3063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Midnight Zone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0" y="28346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Adversarial Collaboration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371600" y="3566160"/>
            <a:ext cx="6858000" cy="68580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371600" y="3566160"/>
            <a:ext cx="54864" cy="685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645920" y="3611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-4000m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4592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Abyss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0" y="36576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Loyalty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visible AI tools rest on a massive, invisible structure of human expertise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/  40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COGNITIVE IMPACT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1828800" cy="27432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3317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vs. Augmentation — Choose wisely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/  40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PATHWAYS FOR AI INTEGRATION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960120"/>
            <a:ext cx="1371600" cy="27432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3657600" cy="33832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3657600" cy="54864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15544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21031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97280" y="23774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Automation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097280" y="2743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Offloading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097280" y="32004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to "Agentic Atrophy" — the gradual erosion of human skills when AI handles everything. Use it or lose it.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1280160"/>
            <a:ext cx="3657600" cy="33832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54880" y="1280160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55448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20640" y="21031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B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5120640" y="23774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Augmentation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5120640" y="2743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Extension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120640" y="32004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Embraces "Desirable Difficulty" — AI handles routine while humans develop deeper judgment through meaningful challenge.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/  40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ADVERSARIAL COLLABORATION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960120"/>
            <a:ext cx="137160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servant. Not master. Sparring partner.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7680960" cy="9144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97280" y="1828800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scientific methodology where parties with opposing views co-design tests and publish joint results. (Kahneman &amp; Klein, 2009)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926080"/>
            <a:ext cx="1874520" cy="182880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10896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365760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Co-Designed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834640" y="2926080"/>
            <a:ext cx="1874520" cy="182880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31089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71800" y="365760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Neutral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Moderation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937760" y="2926080"/>
            <a:ext cx="1874520" cy="182880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310896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074920" y="365760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Accountability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040880" y="2926080"/>
            <a:ext cx="1874520" cy="182880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310896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178040" y="365760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Decides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/  40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ADVERSARIAL LOOP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960120"/>
            <a:ext cx="137160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554480" cy="210312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1554480" cy="4572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1480" y="20116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Proposes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65176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hypothesis or decision</a:t>
            </a:r>
            <a:endParaRPr lang="en-US" sz="10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2103120"/>
            <a:ext cx="228600" cy="228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057400" y="1371600"/>
            <a:ext cx="1554480" cy="210312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057400" y="1371600"/>
            <a:ext cx="1554480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24028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2194560" y="20116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Interrogates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194560" y="265176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assumptions with data</a:t>
            </a:r>
            <a:endParaRPr lang="en-US" sz="10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103120"/>
            <a:ext cx="228600" cy="2286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840480" y="1371600"/>
            <a:ext cx="1554480" cy="210312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3840480" y="1371600"/>
            <a:ext cx="155448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02336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3977640" y="20116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Refines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3977640" y="265176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insights, adapt</a:t>
            </a:r>
            <a:endParaRPr lang="en-US" sz="10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103120"/>
            <a:ext cx="228600" cy="22860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623560" y="1371600"/>
            <a:ext cx="1554480" cy="210312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5623560" y="1371600"/>
            <a:ext cx="15544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580644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5760720" y="20116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Decides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5760720" y="265176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call stays with humans</a:t>
            </a:r>
            <a:endParaRPr lang="en-US" sz="10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103120"/>
            <a:ext cx="228600" cy="22860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406640" y="1371600"/>
            <a:ext cx="1554480" cy="210312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7406640" y="1371600"/>
            <a:ext cx="1554480" cy="4572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4"/>
          <p:cNvSpPr/>
          <p:nvPr/>
        </p:nvSpPr>
        <p:spPr>
          <a:xfrm>
            <a:off x="758952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5"/>
          <p:cNvSpPr/>
          <p:nvPr/>
        </p:nvSpPr>
        <p:spPr>
          <a:xfrm>
            <a:off x="7543800" y="20116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Executes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543800" y="265176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 execution of decision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731520" y="3840480"/>
            <a:ext cx="7680960" cy="91440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28"/>
          <p:cNvSpPr/>
          <p:nvPr/>
        </p:nvSpPr>
        <p:spPr>
          <a:xfrm>
            <a:off x="1097280" y="397764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ensures AI is always the instrument, never the authority. Human judgment is refined, not replaced.</a:t>
            </a:r>
            <a:endParaRPr lang="en-US" sz="1300" dirty="0"/>
          </a:p>
        </p:txBody>
      </p:sp>
      <p:sp>
        <p:nvSpPr>
          <p:cNvPr id="35" name="Text 29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/  40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LOYALTY PROBLEM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1828800" cy="27432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3317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 'loyalty' has been corrupted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 /  40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LOYALTY HAS BEEN CORRUPTED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960120"/>
            <a:ext cx="1371600" cy="27432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3657600" cy="13258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5087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463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Loyalty Programs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554480" y="18288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infrastructure disguised as rewards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280160"/>
            <a:ext cx="3657600" cy="13258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50876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577840" y="1463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Loyalty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5577840" y="18288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optimized over user benefit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31520" y="2834640"/>
            <a:ext cx="3657600" cy="13258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306324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54480" y="30175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Algorithmic Fairness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554480" y="3383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Weaponized statistical parity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disguised as equity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754880" y="2834640"/>
            <a:ext cx="3657600" cy="13258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06324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577840" y="30175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Surveillance Capitalism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5577840" y="3383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data extraction at scale (Zuboff, 2019)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 /  40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LOYAL AGENT vs. GENERAL-PURPOSE AI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777240"/>
            <a:ext cx="13716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3840480" cy="4114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384048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078992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0241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LOYAL AGENT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0" y="1005840"/>
            <a:ext cx="3840480" cy="4114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572000" y="1005840"/>
            <a:ext cx="3840480" cy="4572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846320" y="102412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CA3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GENERAL-PURPOSE AI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6002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94560" y="1600200"/>
            <a:ext cx="2377440" cy="4114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377440" y="16002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interests first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0" y="1600200"/>
            <a:ext cx="3840480" cy="41148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846320" y="16002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interests first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21488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194560" y="2148840"/>
            <a:ext cx="2377440" cy="4114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2377440" y="21488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with you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0" y="2148840"/>
            <a:ext cx="3840480" cy="41148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846320" y="21488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the model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31520" y="269748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194560" y="2697480"/>
            <a:ext cx="2377440" cy="4114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2377440" y="26974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its reasoning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3840480" cy="41148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846320" y="2697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box decisions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31520" y="32461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194560" y="3246120"/>
            <a:ext cx="2377440" cy="4114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2377440" y="3246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recourse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572000" y="3246120"/>
            <a:ext cx="3840480" cy="41148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846320" y="324612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of service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31520" y="379476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2194560" y="3794760"/>
            <a:ext cx="2377440" cy="4114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2377440" y="37947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values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572000" y="3794760"/>
            <a:ext cx="3840480" cy="41148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4846320" y="379476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metrics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731520" y="43434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MODEL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2194560" y="4343400"/>
            <a:ext cx="2377440" cy="4114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2377440" y="43434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Fiduciary standard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572000" y="4343400"/>
            <a:ext cx="3840480" cy="411480"/>
          </a:xfrm>
          <a:prstGeom prst="rect">
            <a:avLst/>
          </a:prstGeom>
          <a:solidFill>
            <a:srgbClr val="16162A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846320" y="43434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product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 /  40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4-PILLAR FRAMEWORK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18288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3317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Integrating intelligence for human-AI synergy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 /  40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4 PILLARS OF HUMAN-AI SYNERGY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783080" cy="347472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1783080" cy="54864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371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41732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9202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Intellectual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Intelligence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265176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Judgment in ambiguity.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handles data, humans handle context.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97480" y="1188720"/>
            <a:ext cx="1783080" cy="347472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697480" y="1188720"/>
            <a:ext cx="1783080" cy="5486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834640" y="1371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4173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34640" y="19202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Intelligence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834640" y="265176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connection.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simulates empathy, humans build trust.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663440" y="1188720"/>
            <a:ext cx="1783080" cy="347472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663440" y="1188720"/>
            <a:ext cx="17830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800600" y="1371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2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0" y="141732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800600" y="19202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Ethical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Intelligence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4800600" y="265176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 reasoning.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optimizes metrics, humans define values.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629400" y="1188720"/>
            <a:ext cx="1783080" cy="347472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6629400" y="1188720"/>
            <a:ext cx="178308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6766560" y="1371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2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1417320"/>
            <a:ext cx="320040" cy="3200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19202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Operational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Intelligence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6766560" y="265176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coordination.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executes tasks, humans lead teams.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 /  40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INTELLECTUAL INTELLIGENCE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960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Chess Move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7680960" cy="18288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630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4630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Blue vs. Kasparov (1997) — The machine won the game, but only a human could have understood why it mattered.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31520" y="2377440"/>
            <a:ext cx="365760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31520" y="2377440"/>
            <a:ext cx="3657600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5603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2560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05840" y="301752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vast datasets, identifies patterns, and generates options at superhuman speed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754880" y="2377440"/>
            <a:ext cx="365760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754880" y="2377440"/>
            <a:ext cx="3657600" cy="4572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256032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86400" y="25603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DOES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029200" y="301752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judgment, considers context and nuance, makes decisions under ambiguity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 /  40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 INTELLIGENCE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960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Empathy Bridge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7680960" cy="18288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630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4630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crisis situations, trust is rebuilt not by data — but by presence, tone, and genuine human connection.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31520" y="2377440"/>
            <a:ext cx="365760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31520" y="2377440"/>
            <a:ext cx="3657600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5603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2560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05840" y="301752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Simulates emotional responses, analyzes sentiment, generates empathetic-sounding text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754880" y="2377440"/>
            <a:ext cx="365760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754880" y="2377440"/>
            <a:ext cx="3657600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256032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86400" y="25603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DOES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029200" y="301752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authentic relationships, reads unspoken cues, creates genuine trust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 /  40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ETHICAL INTELLIGENCE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960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Trolley Problem 2.0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7680960" cy="18288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630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4630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AI optimizes for metrics alone, it risks sacrificing values. Humans must define what 'better' actually means.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31520" y="2377440"/>
            <a:ext cx="365760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31520" y="2377440"/>
            <a:ext cx="3657600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5603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2560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05840" y="301752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Optimizes toward measurable outcomes, applies rules consistently at scale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754880" y="2377440"/>
            <a:ext cx="365760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754880" y="2377440"/>
            <a:ext cx="365760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256032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86400" y="25603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DOES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029200" y="301752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values, weighs competing moral priorities, takes responsibility for outcomes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 /  40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OPERATIONAL INTELLIGENCE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960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Conductor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7680960" cy="18288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630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4630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an orchestra conductor who doesn't play every instrument — leaders orchestrate specialist agents toward a unified vision.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31520" y="2377440"/>
            <a:ext cx="365760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31520" y="2377440"/>
            <a:ext cx="3657600" cy="457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5603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2560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05840" y="301752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specialized tasks with precision, coordinates workflows, automates routine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754880" y="2377440"/>
            <a:ext cx="365760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754880" y="2377440"/>
            <a:ext cx="365760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256032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86400" y="25603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DOES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029200" y="301752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strategic direction, manages team dynamics, exercises leadership judgment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 /  40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7772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JUDGMENT</a:t>
            </a:r>
            <a:endParaRPr lang="en-US" sz="3600" dirty="0"/>
          </a:p>
          <a:p>
            <a:pPr marL="0" indent="0">
              <a:buNone/>
            </a:pPr>
            <a:r>
              <a:rPr lang="en-US" sz="3600" b="1" kern="0" spc="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STAYS HUMAN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182880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domains that demand the human touch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 /  40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JUDGMENT STAYS HUMAN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777240"/>
            <a:ext cx="137160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6400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64008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161288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0972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Healthcare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00200" y="1371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diagnoses requires human empathy and presence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31520" y="1828800"/>
            <a:ext cx="7680960" cy="6400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31520" y="1828800"/>
            <a:ext cx="54864" cy="64008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1938528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18745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Conflict Resolution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600200" y="21488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de-escalation demands genuine human connection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2606040"/>
            <a:ext cx="7680960" cy="6400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31520" y="2606040"/>
            <a:ext cx="54864" cy="6400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2715768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26517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Customer Service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00200" y="29260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rebuilt through human acknowledgment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31520" y="3383280"/>
            <a:ext cx="7680960" cy="6400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731520" y="3383280"/>
            <a:ext cx="54864" cy="640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349300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00200" y="34290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600200" y="37033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requires relationship, not reports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731520" y="4160520"/>
            <a:ext cx="7680960" cy="6400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731520" y="4160520"/>
            <a:ext cx="54864" cy="64008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560" y="4270248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00200" y="42062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1600200" y="4480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breakthroughs come through human belief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 /  40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STATS THAT MATTER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777240"/>
            <a:ext cx="13716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657600" cy="15544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12344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85%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05840" y="19659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patients prefer a human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deliver serious diagnoses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657600" cy="15544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0" y="12344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2.5×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029200" y="19659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lifetime value when trust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rebuilt through human connection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3657600" cy="15544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0632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005840" y="37947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judgment when decisions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challenged by adversarial analysis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926080"/>
            <a:ext cx="3657600" cy="15544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0" y="30632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73%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5029200" y="37947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students distrust AI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in their interests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 /  40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LOYALTY &amp; ETHICS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182880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3317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that serves — by design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 /  40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LAYERED LOYALTY MODEL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777240"/>
            <a:ext cx="137160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7680960" cy="54864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20700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920240" y="1170432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Societal Guardrails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920240" y="1481328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Law, ethics, and societal requirements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280160" y="2057400"/>
            <a:ext cx="6583680" cy="77724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280160" y="2057400"/>
            <a:ext cx="658368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63040" y="216712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468880" y="2130552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Third-Party Protection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68880" y="244144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harm to others beyond the user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28800" y="3017520"/>
            <a:ext cx="5486400" cy="77724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011680" y="312724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17520" y="309067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Wellbeing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017520" y="340156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serves the user's long-term interests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377440" y="3977640"/>
            <a:ext cx="4389120" cy="77724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377440" y="3977640"/>
            <a:ext cx="4389120" cy="54864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560320" y="40873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66160" y="40507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Interests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566160" y="436168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user explicitly requests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 /  40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GUARDRAIL TYPES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68680"/>
            <a:ext cx="137160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51760" cy="32004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5544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194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 Stops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292608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an agent must never take, regardless of instruction. Non-negotiable boundaries.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337560" y="1280160"/>
            <a:ext cx="2651760" cy="32004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337560" y="1280160"/>
            <a:ext cx="2651760" cy="54864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55448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11880" y="2194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 Friction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611880" y="292608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requiring explicit confirmation before proceeding. Deliberate pause points.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1280160"/>
            <a:ext cx="2651760" cy="32004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217920" y="1280160"/>
            <a:ext cx="2651760" cy="5486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55448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92240" y="2194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Transparency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Obligations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92240" y="292608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that must be disclosed to the user. Visible decision-making logic.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 /  40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LOYALTY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777240"/>
            <a:ext cx="13716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6400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54864" cy="64008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161288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097280"/>
            <a:ext cx="630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Accountability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63040" y="137160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recourse mechanisms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14400" y="1828800"/>
            <a:ext cx="7315200" cy="6400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914400" y="1828800"/>
            <a:ext cx="54864" cy="64008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938528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45920" y="18745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Transparency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645920" y="21488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decision logic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1097280" y="2606040"/>
            <a:ext cx="6949440" cy="6400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1097280" y="2606040"/>
            <a:ext cx="54864" cy="6400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2715768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265176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 Tooling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828800" y="292608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compromise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1280160" y="3383280"/>
            <a:ext cx="6583680" cy="6400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1280160" y="3383280"/>
            <a:ext cx="54864" cy="640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8760" y="349300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011680" y="34290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Stewardship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2011680" y="37033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user data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1463040" y="4160520"/>
            <a:ext cx="6217920" cy="6400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1463040" y="4160520"/>
            <a:ext cx="54864" cy="64008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1640" y="4270248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194560" y="4206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2194560" y="44805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rules on who agent serves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731520" y="44348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Loyalty by Design — Not a feature. A foundation.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 /  40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FUTURE OF WORK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18288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3317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job protection to skill evolution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 /  40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MINDSET SHIFT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68680"/>
            <a:ext cx="13716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100584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05840" y="1508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Job Protection</a:t>
            </a:r>
            <a:endParaRPr lang="en-US" sz="1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46304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754880" y="1280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75488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 Evolution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31520" y="2423160"/>
            <a:ext cx="7680960" cy="100584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05840" y="2514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05840" y="2743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 People</a:t>
            </a:r>
            <a:endParaRPr lang="en-US" sz="18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269748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54880" y="2514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4754880" y="2743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Orchestrating Intelligence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731520" y="3657600"/>
            <a:ext cx="7680960" cy="100584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1005840" y="37490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1005840" y="3977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Following Process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393192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54880" y="37490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4754880" y="3977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Exercising Judgment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 /  40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 PLAN: FOR LEADERS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68680"/>
            <a:ext cx="137160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54864" cy="105156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2801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Roles for Intuition Value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6459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which roles depend on judgment, empathy, and ethical reasoning that AI cannot replicate. These are your highest-value positions.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423160"/>
            <a:ext cx="76809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" y="2423160"/>
            <a:ext cx="54864" cy="105156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25146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2514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 in Soft Skills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28803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your teams in adversarial thinking, emotional intelligence, and cross-functional collaboration. These are the new hard skills.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657600"/>
            <a:ext cx="76809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54864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37490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3749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Redesign Workflows for Augmentation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411480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just automate existing processes. Redesign them so AI handles routine while humans handle the meaningful decisions.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 /  40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 PLAN: FOR PROFESSIONALS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68680"/>
            <a:ext cx="13716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54864" cy="105156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2801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Identify Your Human Value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6459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parts of your work that require intuition, creativity, and ethical judgment. These are your unfair advantages.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423160"/>
            <a:ext cx="76809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" y="2423160"/>
            <a:ext cx="54864" cy="105156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25146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2514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 Judgment &amp; Empathy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28803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adversarial thinking. Seek out dissenting views. Build the muscles that AI cannot develop.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657600"/>
            <a:ext cx="76809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54864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37490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3749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Demand Loyal AI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411480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Insist on tools that serve your interests, explain their reasoning, and protect your data. Settle for nothing less.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 /  40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777240"/>
            <a:ext cx="13716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54864" cy="1097280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3258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1887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4-Pillar Framework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15544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Intellectual, Social, Ethical, and Operational intelligence into your agentic loops for human-AI synergy.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31520" y="2377440"/>
            <a:ext cx="7680960" cy="10972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31520" y="2377440"/>
            <a:ext cx="54864" cy="109728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60604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246888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Loyalty Advantage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28346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"loyal" agent is more profitable and more ethical than a general-purpose chatbot. Demand fiduciary-grade AI.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31520" y="3657600"/>
            <a:ext cx="7680960" cy="10972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31520" y="3657600"/>
            <a:ext cx="54864" cy="10972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388620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37490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Reshaping, Not Protecting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4114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 your team's skills to fill the Intuition Gap that AI cannot cross. The future belongs to augmented humans.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768096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 /  40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kern="0" spc="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657600" y="2103120"/>
            <a:ext cx="1828800" cy="27432"/>
          </a:xfrm>
          <a:prstGeom prst="rect">
            <a:avLst/>
          </a:prstGeom>
          <a:solidFill>
            <a:srgbClr val="67E8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Blueprint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Reclaiming Digital Dignity in the Age of Agentic AI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657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Giorgio Natili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869680" y="457200"/>
            <a:ext cx="36576" cy="411480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1835</Words>
  <Application>Microsoft Macintosh PowerPoint</Application>
  <PresentationFormat>On-screen Show (16:9)</PresentationFormat>
  <Paragraphs>447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Human Blueprint: Reclaiming Digital Dignity in the Age of Agentic AI</dc:title>
  <dc:subject>PptxGenJS Presentation</dc:subject>
  <dc:creator>Giorgio Natili</dc:creator>
  <cp:lastModifiedBy>Giorgio Natili</cp:lastModifiedBy>
  <cp:revision>1</cp:revision>
  <dcterms:created xsi:type="dcterms:W3CDTF">2026-03-19T05:49:12Z</dcterms:created>
  <dcterms:modified xsi:type="dcterms:W3CDTF">2026-03-19T05:59:01Z</dcterms:modified>
</cp:coreProperties>
</file>